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Agent Austin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00D2FF"/>
                </a:solidFill>
                <a:latin typeface="Calibri"/>
              </a:rPr>
              <a:t>An AI data-science agent for Austin 311 service requests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49039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9999AA"/>
                </a:solidFill>
                <a:latin typeface="Calibri"/>
              </a:rPr>
              <a:t>Architecture · Agent Skills · Visualization · Use Cases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09728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463040"/>
            <a:ext cx="502920" cy="50292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48132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What is Agent Austin?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8745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999AA"/>
                </a:solidFill>
                <a:latin typeface="Calibri"/>
              </a:rPr>
              <a:t>The product and the data it sits on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240280"/>
            <a:ext cx="502920" cy="502920"/>
          </a:xfrm>
          <a:prstGeom prst="ellipse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25856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651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999AA"/>
                </a:solidFill>
                <a:latin typeface="Calibri"/>
              </a:rPr>
              <a:t>How the pieces fit together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17520"/>
            <a:ext cx="502920" cy="50292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03580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Agent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999AA"/>
                </a:solidFill>
                <a:latin typeface="Calibri"/>
              </a:rPr>
              <a:t>What the agent knows how to do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794760"/>
            <a:ext cx="502920" cy="502920"/>
          </a:xfrm>
          <a:prstGeom prst="ellipse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81304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Visualization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206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999AA"/>
                </a:solidFill>
                <a:latin typeface="Calibri"/>
              </a:rPr>
              <a:t>Plotly charts, dashboards, and reports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572000"/>
            <a:ext cx="502920" cy="50292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9028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Use 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9834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999AA"/>
                </a:solidFill>
                <a:latin typeface="Calibri"/>
              </a:rPr>
              <a:t>Potholes, trash, code compliance, and more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5349240"/>
            <a:ext cx="502920" cy="502920"/>
          </a:xfrm>
          <a:prstGeom prst="ellipse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>
                <a:solidFill>
                  <a:srgbClr val="1A1A2E"/>
                </a:solidFill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36752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7607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999AA"/>
                </a:solidFill>
                <a:latin typeface="Calibri"/>
              </a:rPr>
              <a:t>Where this is headed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999AA"/>
                </a:solidFill>
                <a:latin typeface="Calibri"/>
              </a:rPr>
              <a:t>Agent Austin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999AA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09728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What is Agent Austin?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E0E0E0"/>
                </a:solidFill>
                <a:latin typeface="Calibri"/>
              </a:rPr>
              <a:t>A chat-first data-science agent for the City of Austin's 311 service-request dataset.</a:t>
            </a:r>
          </a:p>
          <a:p>
            <a:pPr algn="l"/>
            <a:r>
              <a:rPr sz="1800" b="0">
                <a:solidFill>
                  <a:srgbClr val="E0E0E0"/>
                </a:solidFill>
                <a:latin typeface="Calibri"/>
              </a:rPr>
              <a:t>Ask in plain English — it downloads, analyzes, visualizes, and writes reports for you.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5167" y="2514600"/>
            <a:ext cx="3474720" cy="192024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5167" y="2697480"/>
            <a:ext cx="34747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00D2FF"/>
                </a:solidFill>
                <a:latin typeface="Calibri"/>
              </a:rPr>
              <a:t>~2.4M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167" y="365760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E0E0E0"/>
                </a:solidFill>
                <a:latin typeface="Calibri"/>
              </a:rPr>
              <a:t>311 requests</a:t>
            </a:r>
          </a:p>
          <a:p>
            <a:pPr algn="ctr"/>
            <a:r>
              <a:rPr sz="1500" b="0">
                <a:solidFill>
                  <a:srgbClr val="E0E0E0"/>
                </a:solidFill>
                <a:latin typeface="Calibri"/>
              </a:rPr>
              <a:t>2014 → present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8487" y="2514600"/>
            <a:ext cx="3474720" cy="192024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8487" y="2697480"/>
            <a:ext cx="34747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7B2FF7"/>
                </a:solidFill>
                <a:latin typeface="Calibri"/>
              </a:rPr>
              <a:t>Daily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8487" y="365760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E0E0E0"/>
                </a:solidFill>
                <a:latin typeface="Calibri"/>
              </a:rPr>
              <a:t>Delta-merged on</a:t>
            </a:r>
          </a:p>
          <a:p>
            <a:pPr algn="ctr"/>
            <a:r>
              <a:rPr sz="1500" b="0">
                <a:solidFill>
                  <a:srgbClr val="E0E0E0"/>
                </a:solidFill>
                <a:latin typeface="Calibri"/>
              </a:rPr>
              <a:t>each deploy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1807" y="2514600"/>
            <a:ext cx="3474720" cy="192024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1807" y="2697480"/>
            <a:ext cx="34747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6B6B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1807" y="365760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E0E0E0"/>
                </a:solidFill>
                <a:latin typeface="Calibri"/>
              </a:rPr>
              <a:t>Skills the agent</a:t>
            </a:r>
          </a:p>
          <a:p>
            <a:pPr algn="ctr"/>
            <a:r>
              <a:rPr sz="1500" b="0">
                <a:solidFill>
                  <a:srgbClr val="E0E0E0"/>
                </a:solidFill>
                <a:latin typeface="Calibri"/>
              </a:rPr>
              <a:t>knows how to 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46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999AA"/>
                </a:solidFill>
                <a:latin typeface="Calibri"/>
              </a:rPr>
              <a:t>Data: City of Austin Open Data · Socrata dataset xwdj-i9he · no API key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999AA"/>
                </a:solidFill>
                <a:latin typeface="Calibri"/>
              </a:rPr>
              <a:t>Agent Austin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999AA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09728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999AA"/>
                </a:solidFill>
                <a:latin typeface="Calibri"/>
              </a:rPr>
              <a:t>Browser → Next.js → FastAPI → Claude Agent SDK, backed by Postgres, a volume, and Socrata.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377440" cy="4206240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FF6B6B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B6B"/>
                </a:solidFill>
                <a:latin typeface="Calibri"/>
              </a:rPr>
              <a:t>USER BROWSER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91840"/>
            <a:ext cx="1920240" cy="914400"/>
          </a:xfrm>
          <a:prstGeom prst="roundRect">
            <a:avLst>
              <a:gd name="adj" fmla="val 25000"/>
            </a:avLst>
          </a:prstGeom>
          <a:solidFill>
            <a:srgbClr val="16213E"/>
          </a:solidFill>
          <a:ln w="9525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Next.js 16 UI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AI Elements + shadcn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737360"/>
            <a:ext cx="5760720" cy="4206240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00D2F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810512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D2FF"/>
                </a:solidFill>
                <a:latin typeface="Calibri"/>
              </a:rPr>
              <a:t>RAILWAY PLATFORM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194560"/>
            <a:ext cx="2651760" cy="1188720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7B2FF7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267712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7B2FF7"/>
                </a:solidFill>
                <a:latin typeface="Calibri"/>
              </a:rPr>
              <a:t>Frontend 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2606040"/>
            <a:ext cx="2377440" cy="640080"/>
          </a:xfrm>
          <a:prstGeom prst="roundRect">
            <a:avLst>
              <a:gd name="adj" fmla="val 25000"/>
            </a:avLst>
          </a:prstGeom>
          <a:solidFill>
            <a:srgbClr val="16213E"/>
          </a:solidFill>
          <a:ln w="9525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Next.js App Router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194560"/>
            <a:ext cx="2651760" cy="3566160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7B2FF7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67712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7B2FF7"/>
                </a:solidFill>
                <a:latin typeface="Calibri"/>
              </a:rPr>
              <a:t>Backend service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606040"/>
            <a:ext cx="2377440" cy="548640"/>
          </a:xfrm>
          <a:prstGeom prst="roundRect">
            <a:avLst>
              <a:gd name="adj" fmla="val 25000"/>
            </a:avLst>
          </a:prstGeom>
          <a:solidFill>
            <a:srgbClr val="16213E"/>
          </a:solidFill>
          <a:ln w="9525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FastAPI + uvicorn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246120"/>
            <a:ext cx="2377440" cy="548640"/>
          </a:xfrm>
          <a:prstGeom prst="roundRect">
            <a:avLst>
              <a:gd name="adj" fmla="val 25000"/>
            </a:avLst>
          </a:prstGeom>
          <a:solidFill>
            <a:srgbClr val="0F3460"/>
          </a:solidFill>
          <a:ln w="9525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Claude Agent SDK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886200"/>
            <a:ext cx="2377440" cy="548640"/>
          </a:xfrm>
          <a:prstGeom prst="roundRect">
            <a:avLst>
              <a:gd name="adj" fmla="val 25000"/>
            </a:avLst>
          </a:prstGeom>
          <a:solidFill>
            <a:srgbClr val="0F3460"/>
          </a:solidFill>
          <a:ln w="9525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In-process MCP server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5029200"/>
            <a:ext cx="2377440" cy="640080"/>
          </a:xfrm>
          <a:prstGeom prst="roundRect">
            <a:avLst>
              <a:gd name="adj" fmla="val 25000"/>
            </a:avLst>
          </a:prstGeom>
          <a:solidFill>
            <a:srgbClr val="0F3460"/>
          </a:solidFill>
          <a:ln w="9525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PostgreSQL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sessions / messages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5029200"/>
            <a:ext cx="2377440" cy="640080"/>
          </a:xfrm>
          <a:prstGeom prst="roundRect">
            <a:avLst>
              <a:gd name="adj" fmla="val 25000"/>
            </a:avLst>
          </a:prstGeom>
          <a:solidFill>
            <a:srgbClr val="0F3460"/>
          </a:solidFill>
          <a:ln w="9525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Persistent Volume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311 CSV · charts · reports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737360"/>
            <a:ext cx="2377440" cy="4206240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FFD93D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181051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D93D"/>
                </a:solidFill>
                <a:latin typeface="Calibri"/>
              </a:rPr>
              <a:t>EXTERNAL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2560320"/>
            <a:ext cx="2057400" cy="822960"/>
          </a:xfrm>
          <a:prstGeom prst="roundRect">
            <a:avLst>
              <a:gd name="adj" fmla="val 25000"/>
            </a:avLst>
          </a:prstGeom>
          <a:solidFill>
            <a:srgbClr val="16213E"/>
          </a:solidFill>
          <a:ln w="9525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Anthropic API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Claude models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3749039"/>
            <a:ext cx="2057400" cy="822960"/>
          </a:xfrm>
          <a:prstGeom prst="roundRect">
            <a:avLst>
              <a:gd name="adj" fmla="val 25000"/>
            </a:avLst>
          </a:prstGeom>
          <a:solidFill>
            <a:srgbClr val="16213E"/>
          </a:solidFill>
          <a:ln w="9525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Socrata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xwdj-i9he dataset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2697480" y="2926080"/>
            <a:ext cx="822960" cy="822959"/>
          </a:xfrm>
          <a:prstGeom prst="bentConnector3">
            <a:avLst/>
          </a:prstGeom>
          <a:ln w="19050">
            <a:solidFill>
              <a:srgbClr val="00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897880" y="2880360"/>
            <a:ext cx="411480" cy="0"/>
          </a:xfrm>
          <a:prstGeom prst="bentConnector3">
            <a:avLst/>
          </a:prstGeom>
          <a:ln w="19050">
            <a:solidFill>
              <a:srgbClr val="00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498079" y="4434840"/>
            <a:ext cx="0" cy="594360"/>
          </a:xfrm>
          <a:prstGeom prst="bentConnector3">
            <a:avLst/>
          </a:prstGeom>
          <a:ln w="19050">
            <a:solidFill>
              <a:srgbClr val="7B2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709160" y="3246120"/>
            <a:ext cx="0" cy="1783080"/>
          </a:xfrm>
          <a:prstGeom prst="bentConnector3">
            <a:avLst/>
          </a:prstGeom>
          <a:ln w="19050">
            <a:solidFill>
              <a:srgbClr val="7B2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686800" y="2971800"/>
            <a:ext cx="731520" cy="548640"/>
          </a:xfrm>
          <a:prstGeom prst="bentConnector3">
            <a:avLst/>
          </a:prstGeom>
          <a:ln w="19050">
            <a:solidFill>
              <a:srgbClr val="FFD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686800" y="4160520"/>
            <a:ext cx="731520" cy="0"/>
          </a:xfrm>
          <a:prstGeom prst="bentConnector3">
            <a:avLst/>
          </a:prstGeom>
          <a:ln w="19050">
            <a:solidFill>
              <a:srgbClr val="FFD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999AA"/>
                </a:solidFill>
                <a:latin typeface="Calibri"/>
              </a:rPr>
              <a:t>SSE streaming · Vercel AI SDK v6 protocol · JWT auth · delta-merge on startup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999AA"/>
                </a:solidFill>
                <a:latin typeface="Calibri"/>
              </a:rPr>
              <a:t>Agent Austin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999AA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09728" cy="4572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Agent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999AA"/>
                </a:solidFill>
                <a:latin typeface="Calibri"/>
              </a:rPr>
              <a:t>Markdown instructions under agent311/.claude/skills/ — the SDK picks them up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45920"/>
            <a:ext cx="3657600" cy="10972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onsolas"/>
              </a:rPr>
              <a:t>download-311-data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0E0E0"/>
                </a:solidFill>
                <a:latin typeface="Calibri"/>
              </a:rPr>
              <a:t>Pulls Socrata CSV</a:t>
            </a:r>
          </a:p>
          <a:p>
            <a:pPr algn="l"/>
            <a:r>
              <a:rPr sz="1400" b="0">
                <a:solidFill>
                  <a:srgbClr val="E0E0E0"/>
                </a:solidFill>
                <a:latin typeface="Calibri"/>
              </a:rPr>
              <a:t>pagination + delta merge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64592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645920"/>
            <a:ext cx="3657600" cy="109728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920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onsolas"/>
              </a:rPr>
              <a:t>analyze-311-data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51460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0E0E0"/>
                </a:solidFill>
                <a:latin typeface="Calibri"/>
              </a:rPr>
              <a:t>Exploratory stats:</a:t>
            </a:r>
          </a:p>
          <a:p>
            <a:pPr algn="l"/>
            <a:r>
              <a:rPr sz="1400" b="0">
                <a:solidFill>
                  <a:srgbClr val="E0E0E0"/>
                </a:solidFill>
                <a:latin typeface="Calibri"/>
              </a:rPr>
              <a:t>types · timing · geography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64592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49640" y="1645920"/>
            <a:ext cx="3657600" cy="10972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920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onsolas"/>
              </a:rPr>
              <a:t>visualize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51460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0E0E0"/>
                </a:solidFill>
                <a:latin typeface="Calibri"/>
              </a:rPr>
              <a:t>Auto-fires on data answers.</a:t>
            </a:r>
          </a:p>
          <a:p>
            <a:pPr algn="l"/>
            <a:r>
              <a:rPr sz="1400" b="0">
                <a:solidFill>
                  <a:srgbClr val="E0E0E0"/>
                </a:solidFill>
                <a:latin typeface="Calibri"/>
              </a:rPr>
              <a:t>Plotly dark-theme charts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11480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114800"/>
            <a:ext cx="3657600" cy="109728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3891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onsolas"/>
              </a:rPr>
              <a:t>create-report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98348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0E0E0"/>
                </a:solidFill>
                <a:latin typeface="Calibri"/>
              </a:rPr>
              <a:t>HTML / PNG / CSV reports</a:t>
            </a:r>
          </a:p>
          <a:p>
            <a:pPr algn="l"/>
            <a:r>
              <a:rPr sz="1400" b="0">
                <a:solidFill>
                  <a:srgbClr val="E0E0E0"/>
                </a:solidFill>
                <a:latin typeface="Calibri"/>
              </a:rPr>
              <a:t>persisted to the sidebar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1480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63440" y="4114800"/>
            <a:ext cx="3657600" cy="109728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43891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onsolas"/>
              </a:rPr>
              <a:t>311-resolution-rate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498348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0E0E0"/>
                </a:solidFill>
                <a:latin typeface="Calibri"/>
              </a:rPr>
              <a:t>Slash command.</a:t>
            </a:r>
          </a:p>
          <a:p>
            <a:pPr algn="l"/>
            <a:r>
              <a:rPr sz="1400" b="0">
                <a:solidFill>
                  <a:srgbClr val="E0E0E0"/>
                </a:solidFill>
                <a:latin typeface="Calibri"/>
              </a:rPr>
              <a:t>Historical resolution 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411480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49640" y="4114800"/>
            <a:ext cx="3657600" cy="10972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43891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onsolas"/>
              </a:rPr>
              <a:t>estimate-complaint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498348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0E0E0"/>
                </a:solidFill>
                <a:latin typeface="Calibri"/>
              </a:rPr>
              <a:t>Slash command.</a:t>
            </a:r>
          </a:p>
          <a:p>
            <a:pPr algn="l"/>
            <a:r>
              <a:rPr sz="1400" b="0">
                <a:solidFill>
                  <a:srgbClr val="E0E0E0"/>
                </a:solidFill>
                <a:latin typeface="Calibri"/>
              </a:rPr>
              <a:t>Severity / complexity estimate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999AA"/>
                </a:solidFill>
                <a:latin typeface="Calibri"/>
              </a:rPr>
              <a:t>Agent Austin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999AA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09728" cy="4572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Skills in detail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527048"/>
            <a:ext cx="320040" cy="32004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41732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nsolas"/>
              </a:rPr>
              <a:t>download-311-data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435608"/>
            <a:ext cx="7772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  <a:latin typeface="Calibri"/>
              </a:rPr>
              <a:t>Socrata dataset xwdj-i9he → 311_recent.csv. 100k rows/page. Full download or delta-merge by sr_number.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368296"/>
            <a:ext cx="320040" cy="320040"/>
          </a:xfrm>
          <a:prstGeom prst="ellipse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258568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nsolas"/>
              </a:rPr>
              <a:t>analyze-311-data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276856"/>
            <a:ext cx="7772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  <a:latin typeface="Calibri"/>
              </a:rPr>
              <a:t>Top types, departments, status mix, day/hour patterns, ZIPs, districts, resolution times, open backlog, 7-day ASCII bar chart.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209544"/>
            <a:ext cx="320040" cy="3200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099816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nsolas"/>
              </a:rPr>
              <a:t>visualize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118104"/>
            <a:ext cx="7772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  <a:latin typeface="Calibri"/>
              </a:rPr>
              <a:t>Automatic on any data answer with ≥3 points. Plotly dark theme, saved via save_chart, rendered in the artifact panel.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050792"/>
            <a:ext cx="320040" cy="32004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941064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nsolas"/>
              </a:rPr>
              <a:t>create-report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959352"/>
            <a:ext cx="7772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  <a:latin typeface="Calibri"/>
              </a:rPr>
              <a:t>Self-contained HTML reports with metric cards + Plotly + narrative. Saved via save_report so they appear in the sidebar.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892040"/>
            <a:ext cx="320040" cy="320040"/>
          </a:xfrm>
          <a:prstGeom prst="ellipse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782312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nsolas"/>
              </a:rPr>
              <a:t>311-resolution-rate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800600"/>
            <a:ext cx="7772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  <a:latin typeface="Calibri"/>
              </a:rPr>
              <a:t>Matches a complaint to a category and returns resolution %, annual volume, reasons for non-resolution, and tips.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5733288"/>
            <a:ext cx="320040" cy="32004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562356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nsolas"/>
              </a:rPr>
              <a:t>estimate-complaint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5641848"/>
            <a:ext cx="7772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  <a:latin typeface="Calibri"/>
              </a:rPr>
              <a:t>Scores severity × complexity × dependencies × resources and outputs a time estimate with confidence + risks.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999AA"/>
                </a:solidFill>
                <a:latin typeface="Calibri"/>
              </a:rPr>
              <a:t>Agent Austin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999AA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