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Agent Austin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00D2FF"/>
                </a:solidFill>
                <a:latin typeface="Calibri"/>
              </a:rPr>
              <a:t>An AI data-science agent for Austin 311 service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9999AA"/>
                </a:solidFill>
                <a:latin typeface="Calibri"/>
              </a:rPr>
              <a:t>Architecture · Agent Skills · Visualization ·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4630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4813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What is Agent Austin?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999AA"/>
                </a:solidFill>
                <a:latin typeface="Calibri"/>
              </a:rPr>
              <a:t>The product and the data it sits on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5856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51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999AA"/>
                </a:solidFill>
                <a:latin typeface="Calibri"/>
              </a:rPr>
              <a:t>How the pieces fit together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01752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3580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Agent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999AA"/>
                </a:solidFill>
                <a:latin typeface="Calibri"/>
              </a:rPr>
              <a:t>What the agent knows how to do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81304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Visualization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206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999AA"/>
                </a:solidFill>
                <a:latin typeface="Calibri"/>
              </a:rPr>
              <a:t>Plotly charts, dashboards, and reports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59028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Use Cases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983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999AA"/>
                </a:solidFill>
                <a:latin typeface="Calibri"/>
              </a:rPr>
              <a:t>Potholes, trash, code compliance, and more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5349240"/>
            <a:ext cx="502920" cy="502920"/>
          </a:xfrm>
          <a:prstGeom prst="ellipse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00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3675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7607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999AA"/>
                </a:solidFill>
                <a:latin typeface="Calibri"/>
              </a:rPr>
              <a:t>Where this is headed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9999AA"/>
                </a:solidFill>
                <a:latin typeface="Calibri"/>
              </a:rPr>
              <a:t>Agent Austin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999A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What is Agent Austin?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E0E0E0"/>
                </a:solidFill>
                <a:latin typeface="Calibri"/>
              </a:rPr>
              <a:t>A chat-first data-science agent for the City of Austin's 311 service-request dataset.</a:t>
            </a:r>
          </a:p>
          <a:p>
            <a:pPr algn="l"/>
            <a:r>
              <a:rPr sz="1800" b="0">
                <a:solidFill>
                  <a:srgbClr val="E0E0E0"/>
                </a:solidFill>
                <a:latin typeface="Calibri"/>
              </a:rPr>
              <a:t>Ask in plain English — it downloads, analyzes, visualizes, and writes reports for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167" y="2514600"/>
            <a:ext cx="3474720" cy="1920240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269748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00D2FF"/>
                </a:solidFill>
                <a:latin typeface="Calibri"/>
              </a:rPr>
              <a:t>~2.4M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" y="365760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0E0E0"/>
                </a:solidFill>
                <a:latin typeface="Calibri"/>
              </a:rPr>
              <a:t>311 requests</a:t>
            </a:r>
          </a:p>
          <a:p>
            <a:pPr algn="ctr"/>
            <a:r>
              <a:rPr sz="1500" b="0">
                <a:solidFill>
                  <a:srgbClr val="E0E0E0"/>
                </a:solidFill>
                <a:latin typeface="Calibri"/>
              </a:rPr>
              <a:t>2014 → present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487" y="2514600"/>
            <a:ext cx="3474720" cy="1920240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8487" y="269748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7B2FF7"/>
                </a:solidFill>
                <a:latin typeface="Calibri"/>
              </a:rPr>
              <a:t>Daily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8487" y="365760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0E0E0"/>
                </a:solidFill>
                <a:latin typeface="Calibri"/>
              </a:rPr>
              <a:t>Delta-merged on</a:t>
            </a:r>
          </a:p>
          <a:p>
            <a:pPr algn="ctr"/>
            <a:r>
              <a:rPr sz="1500" b="0">
                <a:solidFill>
                  <a:srgbClr val="E0E0E0"/>
                </a:solidFill>
                <a:latin typeface="Calibri"/>
              </a:rPr>
              <a:t>each deploy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1807" y="2514600"/>
            <a:ext cx="3474720" cy="1920240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1807" y="269748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FF6B6B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1807" y="365760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0E0E0"/>
                </a:solidFill>
                <a:latin typeface="Calibri"/>
              </a:rPr>
              <a:t>Skills the agent</a:t>
            </a:r>
          </a:p>
          <a:p>
            <a:pPr algn="ctr"/>
            <a:r>
              <a:rPr sz="1500" b="0">
                <a:solidFill>
                  <a:srgbClr val="E0E0E0"/>
                </a:solidFill>
                <a:latin typeface="Calibri"/>
              </a:rPr>
              <a:t>knows how to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9999AA"/>
                </a:solidFill>
                <a:latin typeface="Calibri"/>
              </a:rPr>
              <a:t>Data: City of Austin Open Data · Socrata dataset xwdj-i9he · no API key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9999AA"/>
                </a:solidFill>
                <a:latin typeface="Calibri"/>
              </a:rPr>
              <a:t>Agent Austin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999A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